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82" r:id="rId3"/>
    <p:sldId id="281" r:id="rId4"/>
    <p:sldId id="257" r:id="rId5"/>
    <p:sldId id="258" r:id="rId6"/>
    <p:sldId id="259" r:id="rId7"/>
    <p:sldId id="285" r:id="rId8"/>
    <p:sldId id="287" r:id="rId9"/>
    <p:sldId id="284" r:id="rId10"/>
    <p:sldId id="283" r:id="rId11"/>
    <p:sldId id="288" r:id="rId12"/>
    <p:sldId id="286" r:id="rId13"/>
    <p:sldId id="260" r:id="rId14"/>
    <p:sldId id="261" r:id="rId15"/>
    <p:sldId id="275" r:id="rId16"/>
    <p:sldId id="262" r:id="rId17"/>
    <p:sldId id="264" r:id="rId18"/>
    <p:sldId id="265" r:id="rId19"/>
    <p:sldId id="266" r:id="rId20"/>
    <p:sldId id="268" r:id="rId21"/>
    <p:sldId id="267" r:id="rId22"/>
    <p:sldId id="277" r:id="rId23"/>
    <p:sldId id="269" r:id="rId24"/>
    <p:sldId id="270" r:id="rId25"/>
    <p:sldId id="271" r:id="rId26"/>
    <p:sldId id="272" r:id="rId27"/>
    <p:sldId id="273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2F3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D77246-A2EC-43E5-BF77-76A3824F7355}">
  <a:tblStyle styleId="{B6D77246-A2EC-43E5-BF77-76A3824F73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23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40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fbd59599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fbd59599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fbd59599b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fbd59599b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791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826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fbd59599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fbd59599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2699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550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836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634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fbd59599b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fbd59599b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fbd59599b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fbd59599b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fbd59599b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fbd59599b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257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437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721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475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9430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232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fbd59599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fbd59599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923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813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0228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9661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512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bd59599b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bd59599b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6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shpaner.github.io/kf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buSzPts val="990"/>
              <a:buNone/>
            </a:pPr>
            <a:r>
              <a:rPr lang="en" sz="2470" b="1" dirty="0">
                <a:solidFill>
                  <a:srgbClr val="1F2328"/>
                </a:solidFill>
                <a:highlight>
                  <a:srgbClr val="EEEEEE"/>
                </a:highlight>
              </a:rPr>
              <a:t>An Independent Validation of the Kidney Failure Risk Equation (KFRE) on a </a:t>
            </a:r>
            <a:r>
              <a:rPr lang="en" sz="2500" b="1" dirty="0">
                <a:solidFill>
                  <a:srgbClr val="1F2328"/>
                </a:solidFill>
                <a:highlight>
                  <a:srgbClr val="EEEEEE"/>
                </a:highlight>
              </a:rPr>
              <a:t>Seoul</a:t>
            </a:r>
            <a:r>
              <a:rPr lang="en" sz="2470" b="1" dirty="0">
                <a:solidFill>
                  <a:srgbClr val="1F2328"/>
                </a:solidFill>
                <a:highlight>
                  <a:srgbClr val="EEEEEE"/>
                </a:highlight>
              </a:rPr>
              <a:t> University Hospital Population Using Python</a:t>
            </a:r>
            <a:endParaRPr sz="5080" dirty="0">
              <a:highlight>
                <a:srgbClr val="EEEEEE"/>
              </a:highlight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accent1">
                    <a:lumMod val="50000"/>
                  </a:schemeClr>
                </a:solidFill>
              </a:rPr>
              <a:t>Leonid Shpaner, M.S.</a:t>
            </a:r>
            <a:endParaRPr sz="23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7111243-58D2-D69D-C968-0FE3E0FD5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7941" y="3498411"/>
            <a:ext cx="1628117" cy="66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Background</a:t>
            </a:r>
            <a:endParaRPr sz="2500" b="1" dirty="0">
              <a:solidFill>
                <a:schemeClr val="dk1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C194F38-8046-D061-892C-4A808556E8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6800" y="829641"/>
            <a:ext cx="831053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KFRE Overview: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Tangri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to predict the risk of progression to kidney failure in CKD patients (stages 3 to 5).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predictors identified: age, sex, eGFR, and urine albumin-to-creatinine ratio (ACR).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Details: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KFRE estimates the risk of kidney failure at 2 and 5 years using statistical modeling.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equation has been validated across various populations and is widely used for clinical decision-making and patient counseling.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AF4FF37-407E-F9BB-AAF7-3731DF2E6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6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Methods</a:t>
            </a:r>
            <a:endParaRPr sz="2500" b="1" dirty="0">
              <a:solidFill>
                <a:schemeClr val="dk1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C194F38-8046-D061-892C-4A808556E8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6800" y="799749"/>
            <a:ext cx="831053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Library Implementation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Python library,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kfre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has been created to replicate the original KFRE equations.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library supports calculations for the 2-year and 5-year risk using:</a:t>
            </a:r>
          </a:p>
          <a:p>
            <a:pPr marL="1085850" lvl="2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4-variable equation: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age, sex, eGFR,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uACR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085850" lvl="2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6-variable equation: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diabetes mellitus and hypertension.</a:t>
            </a:r>
          </a:p>
          <a:p>
            <a:pPr marL="1085850" lvl="2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8-variable equation: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all from the 4-variable model plus serum albumin, serum phosphorous, serum bicarbonate, and calcium.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kfre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library enables healthcare professionals and researchers to integrate KFRE calculations into their analyses and decision-making processes.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 Information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detailed usage guide is available at the official documentation: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kfre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 Documentation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600263-6076-4C48-70F2-5F8C32F41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5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Preprocessing</a:t>
            </a:r>
            <a:endParaRPr sz="2500" b="1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416800" y="720725"/>
            <a:ext cx="8232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Create Randomized Patient IDs for Indexing - crucial for several reasons: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 b="1">
                <a:solidFill>
                  <a:schemeClr val="dk1"/>
                </a:solidFill>
              </a:rPr>
              <a:t>Privacy and Anonymity</a:t>
            </a:r>
            <a:r>
              <a:rPr lang="en" sz="1600">
                <a:solidFill>
                  <a:schemeClr val="dk1"/>
                </a:solidFill>
              </a:rPr>
              <a:t>: Random patient IDs help protect patient privacy and maintain anonymity. This is particularly important in healthcare research to ensure compliance with data protection regulations such as HIPAA.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 b="1">
                <a:solidFill>
                  <a:schemeClr val="dk1"/>
                </a:solidFill>
              </a:rPr>
              <a:t>Avoiding Bias</a:t>
            </a:r>
            <a:r>
              <a:rPr lang="en" sz="1600">
                <a:solidFill>
                  <a:schemeClr val="dk1"/>
                </a:solidFill>
              </a:rPr>
              <a:t>: Randomly generated IDs prevent any unintentional bias that could be introduced by using sequential or otherwise patterned IDs. This ensures that analyses are not influenced by the ordering of data.</a:t>
            </a:r>
            <a:endParaRPr sz="160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 b="1">
                <a:solidFill>
                  <a:schemeClr val="dk1"/>
                </a:solidFill>
              </a:rPr>
              <a:t>Data Integrity</a:t>
            </a:r>
            <a:r>
              <a:rPr lang="en" sz="1600">
                <a:solidFill>
                  <a:schemeClr val="dk1"/>
                </a:solidFill>
              </a:rPr>
              <a:t>: Using random IDs can help maintain data integrity when merging datasets from different sources. It reduces the risk of conflicts or duplicates that could arise from overlapping or sequential IDs.</a:t>
            </a:r>
            <a:endParaRPr sz="160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 b="1">
                <a:solidFill>
                  <a:schemeClr val="dk1"/>
                </a:solidFill>
              </a:rPr>
              <a:t>Scalability</a:t>
            </a:r>
            <a:r>
              <a:rPr lang="en" sz="1600">
                <a:solidFill>
                  <a:schemeClr val="dk1"/>
                </a:solidFill>
              </a:rPr>
              <a:t>: Random IDs make it easier to scale the dataset as new patient records can be added without worrying about maintaining a specific order or sequence.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By using random patient IDs, we can enhance the robustness, security, and scalability of our data management processes.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76D1B4-AF70-63CB-AB1E-A2C0715D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Preprocessing</a:t>
            </a:r>
            <a:endParaRPr sz="2500" b="1">
              <a:solidFill>
                <a:schemeClr val="dk1"/>
              </a:solidFill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3175" y="1665650"/>
          <a:ext cx="9057625" cy="2386440"/>
        </p:xfrm>
        <a:graphic>
          <a:graphicData uri="http://schemas.openxmlformats.org/drawingml/2006/table">
            <a:tbl>
              <a:tblPr>
                <a:noFill/>
                <a:tableStyleId>{B6D77246-A2EC-43E5-BF77-76A3824F7355}</a:tableStyleId>
              </a:tblPr>
              <a:tblGrid>
                <a:gridCol w="100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5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5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5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5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68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 </a:t>
                      </a:r>
                      <a:endParaRPr sz="1000" b="1"/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Age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SEX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HTN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DM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GFR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uACR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ACR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Ca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P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TCO2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ESRD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ESRD_dur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Patient_ID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867721094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61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9.148234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4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2.6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2086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533512602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30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153.9749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29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29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9.4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4.5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4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24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2357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988350865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55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66.81041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 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25.77426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9.2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1.6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4.3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18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265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428707535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35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89.34706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 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28.4513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10.5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2.9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700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813646552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66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7.316171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0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7.7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6.5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3.5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14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3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8" name="Google Shape;68;p15"/>
          <p:cNvGrpSpPr/>
          <p:nvPr/>
        </p:nvGrpSpPr>
        <p:grpSpPr>
          <a:xfrm>
            <a:off x="534816" y="644880"/>
            <a:ext cx="5275578" cy="1297636"/>
            <a:chOff x="416475" y="644900"/>
            <a:chExt cx="5393700" cy="1270200"/>
          </a:xfrm>
        </p:grpSpPr>
        <p:cxnSp>
          <p:nvCxnSpPr>
            <p:cNvPr id="69" name="Google Shape;69;p15"/>
            <p:cNvCxnSpPr>
              <a:stCxn id="70" idx="1"/>
            </p:cNvCxnSpPr>
            <p:nvPr/>
          </p:nvCxnSpPr>
          <p:spPr>
            <a:xfrm flipH="1">
              <a:off x="416475" y="821900"/>
              <a:ext cx="1631700" cy="10932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cxnSp>
        <p:sp>
          <p:nvSpPr>
            <p:cNvPr id="70" name="Google Shape;70;p15"/>
            <p:cNvSpPr txBox="1"/>
            <p:nvPr/>
          </p:nvSpPr>
          <p:spPr>
            <a:xfrm>
              <a:off x="2048175" y="644900"/>
              <a:ext cx="3762000" cy="3540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</a:rPr>
                <a:t>   randomly generated (anonymized) patient ids</a:t>
              </a:r>
              <a:endParaRPr sz="1200" b="1">
                <a:solidFill>
                  <a:schemeClr val="dk2"/>
                </a:solidFill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3A272FE4-F6FF-EC11-4E4C-8A52CA00C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Preprocessing</a:t>
            </a:r>
            <a:endParaRPr sz="2500" b="1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416800" y="720725"/>
            <a:ext cx="8232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Tangri et al. used years to determine outcome for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2-years</a:t>
            </a:r>
            <a:r>
              <a:rPr lang="en" sz="1600" dirty="0">
                <a:solidFill>
                  <a:schemeClr val="dk1"/>
                </a:solidFill>
              </a:rPr>
              <a:t>, and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5-years</a:t>
            </a:r>
            <a:r>
              <a:rPr lang="en" sz="1600" dirty="0">
                <a:solidFill>
                  <a:schemeClr val="dk1"/>
                </a:solidFill>
              </a:rPr>
              <a:t>, respectively, so we will have to convert days to years.  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The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class_esrd_outcome()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</a:rPr>
              <a:t> </a:t>
            </a:r>
            <a:r>
              <a:rPr lang="en" sz="1600" dirty="0">
                <a:solidFill>
                  <a:schemeClr val="dk1"/>
                </a:solidFill>
              </a:rPr>
              <a:t>function below creates a new column called years that converts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ESRD_dur</a:t>
            </a:r>
            <a:r>
              <a:rPr lang="en" sz="1600" dirty="0">
                <a:solidFill>
                  <a:schemeClr val="dk1"/>
                </a:solidFill>
              </a:rPr>
              <a:t>.  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Now we use the years column to classify the ESRD column into two new columns inside df called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2_year_outcome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</a:rPr>
              <a:t> </a:t>
            </a:r>
            <a:r>
              <a:rPr lang="en" sz="1600" dirty="0">
                <a:solidFill>
                  <a:schemeClr val="dk1"/>
                </a:solidFill>
              </a:rPr>
              <a:t>and </a:t>
            </a:r>
            <a:r>
              <a:rPr lang="en"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5_year_outcome</a:t>
            </a:r>
            <a:r>
              <a:rPr lang="en" sz="1600" dirty="0">
                <a:solidFill>
                  <a:schemeClr val="dk1"/>
                </a:solidFill>
              </a:rPr>
              <a:t> given the constrains above.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2447400" y="2724150"/>
          <a:ext cx="4249175" cy="2011500"/>
        </p:xfrm>
        <a:graphic>
          <a:graphicData uri="http://schemas.openxmlformats.org/drawingml/2006/table">
            <a:tbl>
              <a:tblPr>
                <a:noFill/>
                <a:tableStyleId>{B6D77246-A2EC-43E5-BF77-76A3824F7355}</a:tableStyleId>
              </a:tblPr>
              <a:tblGrid>
                <a:gridCol w="211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ESRD_in_2_year_outcome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ESRD_in_5_year_outcome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B90C6075-4A63-4FFE-CC3A-7D1593FC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Preprocessing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76D1B4-AF70-63CB-AB1E-A2C0715D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F5F18E-DEE1-DAE8-A291-E7B4DB2E8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236803"/>
              </p:ext>
            </p:extLst>
          </p:nvPr>
        </p:nvGraphicFramePr>
        <p:xfrm>
          <a:off x="49640" y="863400"/>
          <a:ext cx="9044740" cy="3706490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536913">
                  <a:extLst>
                    <a:ext uri="{9D8B030D-6E8A-4147-A177-3AD203B41FA5}">
                      <a16:colId xmlns:a16="http://schemas.microsoft.com/office/drawing/2014/main" val="3265467923"/>
                    </a:ext>
                  </a:extLst>
                </a:gridCol>
                <a:gridCol w="222869">
                  <a:extLst>
                    <a:ext uri="{9D8B030D-6E8A-4147-A177-3AD203B41FA5}">
                      <a16:colId xmlns:a16="http://schemas.microsoft.com/office/drawing/2014/main" val="3684086634"/>
                    </a:ext>
                  </a:extLst>
                </a:gridCol>
                <a:gridCol w="253261">
                  <a:extLst>
                    <a:ext uri="{9D8B030D-6E8A-4147-A177-3AD203B41FA5}">
                      <a16:colId xmlns:a16="http://schemas.microsoft.com/office/drawing/2014/main" val="423237403"/>
                    </a:ext>
                  </a:extLst>
                </a:gridCol>
                <a:gridCol w="205141">
                  <a:extLst>
                    <a:ext uri="{9D8B030D-6E8A-4147-A177-3AD203B41FA5}">
                      <a16:colId xmlns:a16="http://schemas.microsoft.com/office/drawing/2014/main" val="3664254941"/>
                    </a:ext>
                  </a:extLst>
                </a:gridCol>
                <a:gridCol w="296315">
                  <a:extLst>
                    <a:ext uri="{9D8B030D-6E8A-4147-A177-3AD203B41FA5}">
                      <a16:colId xmlns:a16="http://schemas.microsoft.com/office/drawing/2014/main" val="471923790"/>
                    </a:ext>
                  </a:extLst>
                </a:gridCol>
                <a:gridCol w="400781">
                  <a:extLst>
                    <a:ext uri="{9D8B030D-6E8A-4147-A177-3AD203B41FA5}">
                      <a16:colId xmlns:a16="http://schemas.microsoft.com/office/drawing/2014/main" val="1175731693"/>
                    </a:ext>
                  </a:extLst>
                </a:gridCol>
                <a:gridCol w="231341">
                  <a:extLst>
                    <a:ext uri="{9D8B030D-6E8A-4147-A177-3AD203B41FA5}">
                      <a16:colId xmlns:a16="http://schemas.microsoft.com/office/drawing/2014/main" val="2717205745"/>
                    </a:ext>
                  </a:extLst>
                </a:gridCol>
                <a:gridCol w="175280">
                  <a:extLst>
                    <a:ext uri="{9D8B030D-6E8A-4147-A177-3AD203B41FA5}">
                      <a16:colId xmlns:a16="http://schemas.microsoft.com/office/drawing/2014/main" val="4192192101"/>
                    </a:ext>
                  </a:extLst>
                </a:gridCol>
                <a:gridCol w="331945">
                  <a:extLst>
                    <a:ext uri="{9D8B030D-6E8A-4147-A177-3AD203B41FA5}">
                      <a16:colId xmlns:a16="http://schemas.microsoft.com/office/drawing/2014/main" val="1048635537"/>
                    </a:ext>
                  </a:extLst>
                </a:gridCol>
                <a:gridCol w="296315">
                  <a:extLst>
                    <a:ext uri="{9D8B030D-6E8A-4147-A177-3AD203B41FA5}">
                      <a16:colId xmlns:a16="http://schemas.microsoft.com/office/drawing/2014/main" val="1407057932"/>
                    </a:ext>
                  </a:extLst>
                </a:gridCol>
                <a:gridCol w="316246">
                  <a:extLst>
                    <a:ext uri="{9D8B030D-6E8A-4147-A177-3AD203B41FA5}">
                      <a16:colId xmlns:a16="http://schemas.microsoft.com/office/drawing/2014/main" val="568839753"/>
                    </a:ext>
                  </a:extLst>
                </a:gridCol>
                <a:gridCol w="522891">
                  <a:extLst>
                    <a:ext uri="{9D8B030D-6E8A-4147-A177-3AD203B41FA5}">
                      <a16:colId xmlns:a16="http://schemas.microsoft.com/office/drawing/2014/main" val="928801087"/>
                    </a:ext>
                  </a:extLst>
                </a:gridCol>
                <a:gridCol w="373914">
                  <a:extLst>
                    <a:ext uri="{9D8B030D-6E8A-4147-A177-3AD203B41FA5}">
                      <a16:colId xmlns:a16="http://schemas.microsoft.com/office/drawing/2014/main" val="2296900356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393792973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2688524888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733414472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2971464679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885686376"/>
                    </a:ext>
                  </a:extLst>
                </a:gridCol>
                <a:gridCol w="813588">
                  <a:extLst>
                    <a:ext uri="{9D8B030D-6E8A-4147-A177-3AD203B41FA5}">
                      <a16:colId xmlns:a16="http://schemas.microsoft.com/office/drawing/2014/main" val="2612155327"/>
                    </a:ext>
                  </a:extLst>
                </a:gridCol>
              </a:tblGrid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Patient_ID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Age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HTN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DM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GFR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ACR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Ca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P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Alb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TCO2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ESRD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ESRD_dur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Sex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kfre_4var_2year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kfre_4var_5year</a:t>
                      </a:r>
                      <a:endParaRPr lang="en-US" sz="800" b="1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kfre_6var_2year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kfre_6var_5year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kfre_8var_2year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kfre_8var_5year</a:t>
                      </a:r>
                      <a:endParaRPr lang="en-US" sz="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715063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829432911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9.15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2.6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2086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0.1218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0.3953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0.1319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0.4155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0.5811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0.9800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6906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451074312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7.32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7.7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0.0004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0.0046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0.0207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413771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472425367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10.12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7.5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0.0015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24140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300680837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7.63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4.3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0.0013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0.0059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847279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105959696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11.34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311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0.0020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0.0091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06041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205521453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34.90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461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062362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964175840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43.62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1312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00010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366215045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19.63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1566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0.0031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3585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703995795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47.68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1587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4148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193572795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7.20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1705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0.0010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0.0002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0.0036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0.0162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411184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140269431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53.15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1958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3360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167087450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58.17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2856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20135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548454181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28.81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3224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0.0020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0.0089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984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780327933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29.83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439811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586810087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47.63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114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606464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128191268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47.07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210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049558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354037890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44.77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1.6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322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455084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325811054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58.52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418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47471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290397253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42.44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439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36528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340488662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49.03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756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45840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852670690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57.84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1.6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1215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277905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532777291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41.12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1267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464185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770017136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48.76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1323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705292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845855347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31.17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10.3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1370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0.0002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0.0007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26680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259011659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59.52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1620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7198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451920450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27.19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3.9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1680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73109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971884645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22.52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1911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0.0007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150996"/>
                  </a:ext>
                </a:extLst>
              </a:tr>
              <a:tr h="1178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340172975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58.96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9.2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3.1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3.7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2013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Female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0.0000</a:t>
                      </a:r>
                      <a:endParaRPr lang="en-US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890" marR="5890" marT="5890" marB="0" anchor="b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18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45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Results</a:t>
            </a:r>
            <a:endParaRPr sz="2500" b="1" dirty="0">
              <a:solidFill>
                <a:schemeClr val="dk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76D1B4-AF70-63CB-AB1E-A2C0715D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7FB695-740C-3408-9975-722571B18D75}"/>
              </a:ext>
            </a:extLst>
          </p:cNvPr>
          <p:cNvSpPr txBox="1"/>
          <p:nvPr/>
        </p:nvSpPr>
        <p:spPr>
          <a:xfrm>
            <a:off x="416800" y="2506791"/>
            <a:ext cx="81453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the predicted probabilities for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4-variable</a:t>
            </a:r>
            <a:r>
              <a:rPr lang="en-US" dirty="0"/>
              <a:t> KFRE model for both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2-year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5-year</a:t>
            </a:r>
            <a:r>
              <a:rPr lang="en-US" dirty="0"/>
              <a:t>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these predictions to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y_pred_4var_2_yr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y_pred_4var_5_yr</a:t>
            </a:r>
            <a:r>
              <a:rPr lang="en-US" dirty="0"/>
              <a:t>,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Similarly, extract and assign the predicted probabilities for the 6-variable KFRE model for both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2-year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5-year</a:t>
            </a:r>
            <a:r>
              <a:rPr lang="en-US" dirty="0"/>
              <a:t> outcomes to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y_pred_6var_2_yr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y_pred_6var_5_yr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the 4-variable model predictions into a list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preds_4var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These steps set up the necessary true labels and predictions for subsequent performance evaluation and analysis of the 4-variable and 6-variable KFRE models for both 2-year and 5-year outcomes.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E537C-9A71-77FB-453A-F4C365EA97D1}"/>
              </a:ext>
            </a:extLst>
          </p:cNvPr>
          <p:cNvSpPr txBox="1"/>
          <p:nvPr/>
        </p:nvSpPr>
        <p:spPr>
          <a:xfrm>
            <a:off x="416799" y="690909"/>
            <a:ext cx="81453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define truth for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2-year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5-year</a:t>
            </a:r>
            <a:r>
              <a:rPr lang="en-US" dirty="0"/>
              <a:t> outcomes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down the dataset to CKD stages 3-5 (</a:t>
            </a:r>
            <a:r>
              <a:rPr lang="en-US" dirty="0" err="1"/>
              <a:t>Tangri</a:t>
            </a:r>
            <a:r>
              <a:rPr lang="en-US" dirty="0"/>
              <a:t> et al.)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the true labels for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2-year</a:t>
            </a:r>
            <a:r>
              <a:rPr lang="en-US" dirty="0"/>
              <a:t> and </a:t>
            </a:r>
            <a:r>
              <a:rPr lang="en-US" dirty="0">
                <a:highlight>
                  <a:srgbClr val="CFE2F3"/>
                </a:highlight>
              </a:rPr>
              <a:t>5-year</a:t>
            </a:r>
            <a:r>
              <a:rPr lang="en-US" dirty="0"/>
              <a:t> outcomes from the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>
                <a:highlight>
                  <a:srgbClr val="CFE2F3"/>
                </a:highlight>
                <a:latin typeface="Consolas" panose="020B0609020204030204" pitchFamily="49" charset="0"/>
              </a:rPr>
              <a:t>df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the true labels for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2-year</a:t>
            </a:r>
            <a:r>
              <a:rPr lang="en-US" dirty="0"/>
              <a:t> outcome to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y_true_2_yr</a:t>
            </a:r>
            <a:r>
              <a:rPr lang="en-US" dirty="0"/>
              <a:t> and for the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5-year</a:t>
            </a:r>
            <a:r>
              <a:rPr lang="en-US" dirty="0"/>
              <a:t> outcome to </a:t>
            </a:r>
            <a:r>
              <a:rPr lang="en-US" dirty="0">
                <a:highlight>
                  <a:srgbClr val="CFE2F3"/>
                </a:highlight>
                <a:latin typeface="Consolas" panose="020B0609020204030204" pitchFamily="49" charset="0"/>
              </a:rPr>
              <a:t>y_true_5_yr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these true labels into a list </a:t>
            </a:r>
            <a:r>
              <a:rPr lang="en-US" dirty="0" err="1">
                <a:highlight>
                  <a:srgbClr val="CFE2F3"/>
                </a:highlight>
                <a:latin typeface="Consolas" panose="020B0609020204030204" pitchFamily="49" charset="0"/>
              </a:rPr>
              <a:t>y_true</a:t>
            </a:r>
            <a:r>
              <a:rPr lang="en-US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F34F8-826A-AD60-5C44-F66D37CE367C}"/>
              </a:ext>
            </a:extLst>
          </p:cNvPr>
          <p:cNvSpPr txBox="1"/>
          <p:nvPr/>
        </p:nvSpPr>
        <p:spPr>
          <a:xfrm>
            <a:off x="713510" y="2029737"/>
            <a:ext cx="7848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Define Predictions for 4-Variable and 6-Variable KFREs for 2-Years and 5-Years</a:t>
            </a:r>
          </a:p>
        </p:txBody>
      </p:sp>
    </p:spTree>
    <p:extLst>
      <p:ext uri="{BB962C8B-B14F-4D97-AF65-F5344CB8AC3E}">
        <p14:creationId xmlns:p14="http://schemas.microsoft.com/office/powerpoint/2010/main" val="398490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0383B1-FD61-910B-0D5F-21EC82D9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77" y="523555"/>
            <a:ext cx="6719505" cy="3716374"/>
          </a:xfrm>
          <a:prstGeom prst="rect">
            <a:avLst/>
          </a:prstGeom>
        </p:spPr>
      </p:pic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F7CC1E68-69A2-B626-200E-FE6702655086}"/>
              </a:ext>
            </a:extLst>
          </p:cNvPr>
          <p:cNvSpPr txBox="1">
            <a:spLocks/>
          </p:cNvSpPr>
          <p:nvPr/>
        </p:nvSpPr>
        <p:spPr>
          <a:xfrm>
            <a:off x="416800" y="70800"/>
            <a:ext cx="6472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500" b="1" dirty="0">
                <a:solidFill>
                  <a:schemeClr val="dk1"/>
                </a:solidFill>
              </a:rPr>
              <a:t>Results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3AC7C41-07F3-D528-5DD8-A64235514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6E2096-003E-208D-8052-4980F1B3C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07969"/>
              </p:ext>
            </p:extLst>
          </p:nvPr>
        </p:nvGraphicFramePr>
        <p:xfrm>
          <a:off x="83128" y="4259265"/>
          <a:ext cx="8977743" cy="813435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1319829">
                  <a:extLst>
                    <a:ext uri="{9D8B030D-6E8A-4147-A177-3AD203B41FA5}">
                      <a16:colId xmlns:a16="http://schemas.microsoft.com/office/drawing/2014/main" val="2195998943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3137422566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655766086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3316851451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223925097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3201964988"/>
                    </a:ext>
                  </a:extLst>
                </a:gridCol>
                <a:gridCol w="1276319">
                  <a:extLst>
                    <a:ext uri="{9D8B030D-6E8A-4147-A177-3AD203B41FA5}">
                      <a16:colId xmlns:a16="http://schemas.microsoft.com/office/drawing/2014/main" val="994190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 dirty="0">
                          <a:effectLst/>
                        </a:rPr>
                        <a:t>Metrics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2_year_4_var_kfre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5_year_4_var_kfre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2_year_6_var_kfre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5_year_6_var_kfre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2_year_8_var_kfre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effectLst/>
                        </a:rPr>
                        <a:t>5_year_8_var_kfre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267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>
                          <a:effectLst/>
                        </a:rPr>
                        <a:t>Precision/PPV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0.614641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0.590909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0.616874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0.593812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0.589202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0.558601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121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 dirty="0">
                          <a:effectLst/>
                        </a:rPr>
                        <a:t>Average Precision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0.559144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0.602071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0.559212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0.603624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0.548023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0.587199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953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>
                          <a:effectLst/>
                        </a:rPr>
                        <a:t>Sensitivity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0.445892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0.641297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0.446894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0.635659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0.503006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0.675123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6804552"/>
                  </a:ext>
                </a:extLst>
              </a:tr>
              <a:tr h="7080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>
                          <a:effectLst/>
                        </a:rPr>
                        <a:t>Specificity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0.949919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0.87767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0.950278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0.880194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0.937175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0.85301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1001857"/>
                  </a:ext>
                </a:extLst>
              </a:tr>
              <a:tr h="8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>
                          <a:effectLst/>
                        </a:rPr>
                        <a:t>AUC ROC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0.875196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0.844687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0.875311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0.84521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0.877136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0.843695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101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u="none" strike="noStrike" dirty="0">
                          <a:effectLst/>
                        </a:rPr>
                        <a:t>Brier Score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0.091249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0.137478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0.091271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0.136473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0.096593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0.148403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8583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67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Results</a:t>
            </a:r>
            <a:endParaRPr sz="2500" b="1" dirty="0">
              <a:solidFill>
                <a:schemeClr val="dk1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913" y="863400"/>
            <a:ext cx="5222173" cy="3493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6B3ECD8-27B3-4FAD-12DF-653B868E9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8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References</a:t>
            </a:r>
            <a:endParaRPr sz="2500" b="1" dirty="0">
              <a:solidFill>
                <a:schemeClr val="dk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76D1B4-AF70-63CB-AB1E-A2C0715D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4E537C-9A71-77FB-453A-F4C365EA97D1}"/>
              </a:ext>
            </a:extLst>
          </p:cNvPr>
          <p:cNvSpPr txBox="1"/>
          <p:nvPr/>
        </p:nvSpPr>
        <p:spPr>
          <a:xfrm>
            <a:off x="416800" y="763586"/>
            <a:ext cx="838776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Tangri</a:t>
            </a:r>
            <a:r>
              <a:rPr lang="en-US" dirty="0"/>
              <a:t> N, Grams ME, Levey AS, Coresh J, Appel LJ, Astor BC, </a:t>
            </a:r>
            <a:r>
              <a:rPr lang="en-US" dirty="0" err="1"/>
              <a:t>Chodick</a:t>
            </a:r>
            <a:r>
              <a:rPr lang="en-US" dirty="0"/>
              <a:t> G, Collins AJ, </a:t>
            </a:r>
            <a:r>
              <a:rPr lang="en-US" dirty="0" err="1"/>
              <a:t>Djurdjev</a:t>
            </a:r>
            <a:r>
              <a:rPr lang="en-US" dirty="0"/>
              <a:t> O, </a:t>
            </a:r>
            <a:r>
              <a:rPr lang="en-US" dirty="0" err="1"/>
              <a:t>Elley</a:t>
            </a:r>
            <a:r>
              <a:rPr lang="en-US" dirty="0"/>
              <a:t> CR, Evans M, Garg AX, Hallan SI, Inker LA, Ito S, Jee SH, </a:t>
            </a:r>
            <a:r>
              <a:rPr lang="en-US" dirty="0" err="1"/>
              <a:t>Kovesdy</a:t>
            </a:r>
            <a:r>
              <a:rPr lang="en-US" dirty="0"/>
              <a:t> CP, </a:t>
            </a:r>
            <a:r>
              <a:rPr lang="en-US" dirty="0" err="1"/>
              <a:t>Kronenberg</a:t>
            </a:r>
            <a:r>
              <a:rPr lang="en-US" dirty="0"/>
              <a:t> F, </a:t>
            </a:r>
            <a:r>
              <a:rPr lang="en-US" dirty="0" err="1"/>
              <a:t>Heerspink</a:t>
            </a:r>
            <a:r>
              <a:rPr lang="en-US" dirty="0"/>
              <a:t> HJL, Marks A, Nadkarni GN, Navaneethan SD, Nelson RG, </a:t>
            </a:r>
            <a:r>
              <a:rPr lang="en-US" dirty="0" err="1"/>
              <a:t>Titze</a:t>
            </a:r>
            <a:r>
              <a:rPr lang="en-US" dirty="0"/>
              <a:t> S, </a:t>
            </a:r>
            <a:r>
              <a:rPr lang="en-US" dirty="0" err="1"/>
              <a:t>Sarnak</a:t>
            </a:r>
            <a:r>
              <a:rPr lang="en-US" dirty="0"/>
              <a:t> MJ, Stengel B, Woodward M, Iseki K, for the CKD Prognosis Consortium. (2016). </a:t>
            </a:r>
            <a:r>
              <a:rPr lang="en-US" i="1" dirty="0"/>
              <a:t>Multinational assessment of accuracy of equations for predicting risk of kidney failure: A meta-analysis. JAMA,</a:t>
            </a:r>
            <a:r>
              <a:rPr lang="en-US" dirty="0"/>
              <a:t> </a:t>
            </a:r>
            <a:r>
              <a:rPr lang="en-US" i="1" dirty="0"/>
              <a:t>315</a:t>
            </a:r>
            <a:r>
              <a:rPr lang="en-US" dirty="0"/>
              <a:t>(2), 164–174. </a:t>
            </a:r>
            <a:r>
              <a:rPr lang="en-US" dirty="0" err="1"/>
              <a:t>doi</a:t>
            </a:r>
            <a:r>
              <a:rPr lang="en-US" dirty="0"/>
              <a:t>: 10.1001/jama.2015.18202.</a:t>
            </a:r>
          </a:p>
          <a:p>
            <a:endParaRPr lang="en-US" dirty="0"/>
          </a:p>
          <a:p>
            <a:r>
              <a:rPr lang="en-US" dirty="0" err="1"/>
              <a:t>Tangri</a:t>
            </a:r>
            <a:r>
              <a:rPr lang="en-US" dirty="0"/>
              <a:t>, N., Stevens, L. A., Griffith, J., </a:t>
            </a:r>
            <a:r>
              <a:rPr lang="en-US" dirty="0" err="1"/>
              <a:t>Tighiouart</a:t>
            </a:r>
            <a:r>
              <a:rPr lang="en-US" dirty="0"/>
              <a:t>, H., </a:t>
            </a:r>
            <a:r>
              <a:rPr lang="en-US" dirty="0" err="1"/>
              <a:t>Djurdjev</a:t>
            </a:r>
            <a:r>
              <a:rPr lang="en-US" dirty="0"/>
              <a:t>, O., Naimark, D., Levin, A., &amp; Levey, A. S. (2011). </a:t>
            </a:r>
            <a:r>
              <a:rPr lang="en-US" i="1" dirty="0"/>
              <a:t>A predictive model for progression of chronic kidney disease to kidney failure. JAMA,</a:t>
            </a:r>
            <a:r>
              <a:rPr lang="en-US" dirty="0"/>
              <a:t> </a:t>
            </a:r>
            <a:r>
              <a:rPr lang="en-US" i="1" dirty="0"/>
              <a:t>305</a:t>
            </a:r>
            <a:r>
              <a:rPr lang="en-US" dirty="0"/>
              <a:t>(15), 1553-1559. </a:t>
            </a:r>
            <a:r>
              <a:rPr lang="en-US" dirty="0" err="1"/>
              <a:t>doi</a:t>
            </a:r>
            <a:r>
              <a:rPr lang="en-US" dirty="0"/>
              <a:t>: 10.1001/jama.2011.451.  </a:t>
            </a:r>
          </a:p>
          <a:p>
            <a:endParaRPr lang="en-US" dirty="0"/>
          </a:p>
          <a:p>
            <a:r>
              <a:rPr lang="en-US" dirty="0"/>
              <a:t>Shpaner, L. (2024). </a:t>
            </a:r>
            <a:r>
              <a:rPr lang="en-US" i="1" dirty="0" err="1"/>
              <a:t>kfre</a:t>
            </a:r>
            <a:r>
              <a:rPr lang="en-US" i="1" dirty="0"/>
              <a:t>: A Python library for reproducing Kidney Failure Risk Equations (KFRE)</a:t>
            </a:r>
            <a:r>
              <a:rPr lang="en-US" dirty="0"/>
              <a:t> (Version 0.1.12) [Computer software]. </a:t>
            </a:r>
            <a:r>
              <a:rPr lang="en-US" dirty="0" err="1"/>
              <a:t>Zenodo</a:t>
            </a:r>
            <a:r>
              <a:rPr lang="en-US" dirty="0"/>
              <a:t>. https://doi.org/10.5281/zenodo.11100222</a:t>
            </a:r>
          </a:p>
          <a:p>
            <a:endParaRPr lang="en-US" dirty="0"/>
          </a:p>
          <a:p>
            <a:r>
              <a:rPr lang="en-US" dirty="0"/>
              <a:t>Kang MW, </a:t>
            </a:r>
            <a:r>
              <a:rPr lang="en-US" dirty="0" err="1"/>
              <a:t>Tangri</a:t>
            </a:r>
            <a:r>
              <a:rPr lang="en-US" dirty="0"/>
              <a:t> N, Kim YC, An JN, Lee J, Li L, Oh YK, Kim DK, Joo KW, Kim YS, Lim CS, Lee JP. (2020). </a:t>
            </a:r>
            <a:r>
              <a:rPr lang="en-US" i="1" dirty="0"/>
              <a:t>An independent validation of the kidney failure risk equation in an Asian population. Scientific Reports,10</a:t>
            </a:r>
            <a:r>
              <a:rPr lang="en-US" dirty="0"/>
              <a:t>(1), 12920. </a:t>
            </a:r>
            <a:r>
              <a:rPr lang="en-US" dirty="0" err="1"/>
              <a:t>doi</a:t>
            </a:r>
            <a:r>
              <a:rPr lang="en-US" dirty="0"/>
              <a:t>: 10.1038/s41598-020-69715-3.</a:t>
            </a:r>
          </a:p>
        </p:txBody>
      </p:sp>
    </p:spTree>
    <p:extLst>
      <p:ext uri="{BB962C8B-B14F-4D97-AF65-F5344CB8AC3E}">
        <p14:creationId xmlns:p14="http://schemas.microsoft.com/office/powerpoint/2010/main" val="84476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buSzPts val="990"/>
              <a:buNone/>
            </a:pPr>
            <a:r>
              <a:rPr lang="en" sz="2500" b="1" dirty="0">
                <a:solidFill>
                  <a:srgbClr val="1F2328"/>
                </a:solidFill>
                <a:highlight>
                  <a:srgbClr val="EEEEEE"/>
                </a:highlight>
              </a:rPr>
              <a:t>Appendix</a:t>
            </a:r>
            <a:endParaRPr sz="2500" dirty="0">
              <a:highlight>
                <a:srgbClr val="EEEEEE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0804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Descriptive Statistics</a:t>
            </a:r>
            <a:endParaRPr sz="2500" b="1">
              <a:solidFill>
                <a:schemeClr val="dk1"/>
              </a:solidFill>
            </a:endParaRPr>
          </a:p>
        </p:txBody>
      </p:sp>
      <p:graphicFrame>
        <p:nvGraphicFramePr>
          <p:cNvPr id="83" name="Google Shape;83;p17"/>
          <p:cNvGraphicFramePr/>
          <p:nvPr>
            <p:extLst>
              <p:ext uri="{D42A27DB-BD31-4B8C-83A1-F6EECF244321}">
                <p14:modId xmlns:p14="http://schemas.microsoft.com/office/powerpoint/2010/main" val="4225615456"/>
              </p:ext>
            </p:extLst>
          </p:nvPr>
        </p:nvGraphicFramePr>
        <p:xfrm>
          <a:off x="540328" y="1218264"/>
          <a:ext cx="8215746" cy="3017250"/>
        </p:xfrm>
        <a:graphic>
          <a:graphicData uri="http://schemas.openxmlformats.org/drawingml/2006/table">
            <a:tbl>
              <a:tblPr>
                <a:noFill/>
                <a:tableStyleId>{B6D77246-A2EC-43E5-BF77-76A3824F7355}</a:tableStyleId>
              </a:tblPr>
              <a:tblGrid>
                <a:gridCol w="655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 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Age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GFR</a:t>
                      </a:r>
                      <a:endParaRPr sz="10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ACR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Ca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P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TCO2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ESRD_dur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count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16619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mean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54.43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66.70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727.43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9.14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3.62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4.04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26.13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1385.88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std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17.24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31.13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1760.78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0.67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3.99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1444.12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min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2.237830735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3.5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25%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46.94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25.28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241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50%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57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67.84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120.86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9.2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3.5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4.2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868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75%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85.13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642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9.6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2091.50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max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415.04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60323.44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14.8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15.5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5.7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59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5892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520781F5-93A9-6F71-34CC-E1475D66F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Descriptive Statistics</a:t>
            </a:r>
            <a:endParaRPr sz="2500" b="1" dirty="0">
              <a:solidFill>
                <a:schemeClr val="dk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65" y="813950"/>
            <a:ext cx="8011238" cy="397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C74ED2D-56E5-755F-8D20-BF8F6551A5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</a:rPr>
              <a:t>Descriptive Statistics</a:t>
            </a:r>
            <a:endParaRPr sz="2500" b="1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49EBC-91E1-29CF-9385-48CFDD2FE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633"/>
            <a:ext cx="9144000" cy="453986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1FAE235-DB79-9FBA-2D3F-86E006991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1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3" y="582440"/>
            <a:ext cx="4971298" cy="29920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A4CC93-AAE5-998B-4D3A-B0BA0E7BB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530091"/>
              </p:ext>
            </p:extLst>
          </p:nvPr>
        </p:nvGraphicFramePr>
        <p:xfrm>
          <a:off x="2154381" y="3668192"/>
          <a:ext cx="4971298" cy="135096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Age_Group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Hypertension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Hypertension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Hypertension_%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Hypertension_%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18-29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1,711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193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89.86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10.14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30-39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1,311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335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79.65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20.35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40-49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1,682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72.66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27.34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50-59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2,166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1,247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63.46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36.54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60-69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2,046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1,766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3,812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53.67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46.33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70-79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1,322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1,505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46.76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53.24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80-89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360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45.78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54.22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  <a:tr h="94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90-99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42.11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57.89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60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10,558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6,061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63.53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36.47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96760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631BFA17-11C7-4E78-227B-EBFD9EADF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3" y="582440"/>
            <a:ext cx="4971298" cy="29920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AFD8C5-C176-238C-1B7D-000E88FE5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62163"/>
              </p:ext>
            </p:extLst>
          </p:nvPr>
        </p:nvGraphicFramePr>
        <p:xfrm>
          <a:off x="2154381" y="3668192"/>
          <a:ext cx="4971298" cy="135096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Age_Group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Diabetes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Diabetes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Diabetes_%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Diabetes_%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18-29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1,785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93.75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6.25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30-39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1,444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87.73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12.27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40-49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1,776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76.72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23.28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50-59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2,235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1,178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65.48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34.52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60-69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2,216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1,596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3,812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58.13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41.87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70-79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1,695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1,132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59.96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40.04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80-89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423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241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63.70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36.30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  <a:tr h="94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90-99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65.79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34.21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60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11,599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5,020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69.79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30.21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96760"/>
                  </a:ext>
                </a:extLst>
              </a:tr>
            </a:tbl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69C3F940-677E-7747-C85B-1E1777550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56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3" y="582440"/>
            <a:ext cx="4971298" cy="29920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001C36-4027-E6CD-FB6E-1DAEFCAE6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11606"/>
              </p:ext>
            </p:extLst>
          </p:nvPr>
        </p:nvGraphicFramePr>
        <p:xfrm>
          <a:off x="2154381" y="3668192"/>
          <a:ext cx="4971298" cy="135096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Age_Group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Male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Female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Male_%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Female_%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18-29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328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1,576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17.23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82.77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30-39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1,250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24.06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75.94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40-49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508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1,807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21.94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78.06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50-59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764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2,649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22.38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77.62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60-69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779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3,033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3,812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20.44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79.56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70-79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527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2,300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18.64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81.36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80-89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143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21.54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78.46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  <a:tr h="94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90-99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15.79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84.21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60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3,451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13,168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20.77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79.23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96760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2873BE35-2C8D-488D-9152-78AAB1AE4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6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4" y="582440"/>
            <a:ext cx="4971296" cy="29920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24255"/>
              </p:ext>
            </p:extLst>
          </p:nvPr>
        </p:nvGraphicFramePr>
        <p:xfrm>
          <a:off x="2154381" y="3668192"/>
          <a:ext cx="4971298" cy="135096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Age_Group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ESRD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ESRD_%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18-29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1,808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94.96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5.04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30-39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1,526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92.71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40-49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2,099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90.67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9.33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50-59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3,121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292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91.44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8.56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60-69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3,544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268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3,812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92.97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7.03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70-79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2,673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154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94.55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5.45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80-89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634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95.48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4.52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  <a:tr h="94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90-99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35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60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15,440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1,179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92.91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7.09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96760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807D5DEA-420F-18A0-05BD-43D16B221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31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4" y="582440"/>
            <a:ext cx="4971296" cy="29920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158493"/>
              </p:ext>
            </p:extLst>
          </p:nvPr>
        </p:nvGraphicFramePr>
        <p:xfrm>
          <a:off x="2154381" y="3668192"/>
          <a:ext cx="4971298" cy="135096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Age_Group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ESRD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No_ESRD_%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ESRD_%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18-29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1,778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93.38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6.62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30-39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1,482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1,646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90.04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9.96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40-49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2,019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87.21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12.79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50-59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2,970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443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87.02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12.98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60-69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3,395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417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3,812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89.06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10.94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70-79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2,586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241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2,827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91.48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8.52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80-89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610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91.87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8.13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  <a:tr h="94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90-99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35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38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60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14,875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1,744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89.51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10.49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9676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73771142-0502-0FF7-BE74-20DF08E39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02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4" y="582440"/>
            <a:ext cx="4971296" cy="29920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BAF014-9746-CDCC-22BD-D37F573C7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63671"/>
              </p:ext>
            </p:extLst>
          </p:nvPr>
        </p:nvGraphicFramePr>
        <p:xfrm>
          <a:off x="69273" y="3764684"/>
          <a:ext cx="8963887" cy="1173790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493198">
                  <a:extLst>
                    <a:ext uri="{9D8B030D-6E8A-4147-A177-3AD203B41FA5}">
                      <a16:colId xmlns:a16="http://schemas.microsoft.com/office/drawing/2014/main" val="205137918"/>
                    </a:ext>
                  </a:extLst>
                </a:gridCol>
                <a:gridCol w="690479">
                  <a:extLst>
                    <a:ext uri="{9D8B030D-6E8A-4147-A177-3AD203B41FA5}">
                      <a16:colId xmlns:a16="http://schemas.microsoft.com/office/drawing/2014/main" val="208764987"/>
                    </a:ext>
                  </a:extLst>
                </a:gridCol>
                <a:gridCol w="567179">
                  <a:extLst>
                    <a:ext uri="{9D8B030D-6E8A-4147-A177-3AD203B41FA5}">
                      <a16:colId xmlns:a16="http://schemas.microsoft.com/office/drawing/2014/main" val="602979422"/>
                    </a:ext>
                  </a:extLst>
                </a:gridCol>
                <a:gridCol w="610334">
                  <a:extLst>
                    <a:ext uri="{9D8B030D-6E8A-4147-A177-3AD203B41FA5}">
                      <a16:colId xmlns:a16="http://schemas.microsoft.com/office/drawing/2014/main" val="352024396"/>
                    </a:ext>
                  </a:extLst>
                </a:gridCol>
                <a:gridCol w="813778">
                  <a:extLst>
                    <a:ext uri="{9D8B030D-6E8A-4147-A177-3AD203B41FA5}">
                      <a16:colId xmlns:a16="http://schemas.microsoft.com/office/drawing/2014/main" val="1227058718"/>
                    </a:ext>
                  </a:extLst>
                </a:gridCol>
                <a:gridCol w="684313">
                  <a:extLst>
                    <a:ext uri="{9D8B030D-6E8A-4147-A177-3AD203B41FA5}">
                      <a16:colId xmlns:a16="http://schemas.microsoft.com/office/drawing/2014/main" val="2120570863"/>
                    </a:ext>
                  </a:extLst>
                </a:gridCol>
                <a:gridCol w="567179">
                  <a:extLst>
                    <a:ext uri="{9D8B030D-6E8A-4147-A177-3AD203B41FA5}">
                      <a16:colId xmlns:a16="http://schemas.microsoft.com/office/drawing/2014/main" val="1583105750"/>
                    </a:ext>
                  </a:extLst>
                </a:gridCol>
                <a:gridCol w="337019">
                  <a:extLst>
                    <a:ext uri="{9D8B030D-6E8A-4147-A177-3AD203B41FA5}">
                      <a16:colId xmlns:a16="http://schemas.microsoft.com/office/drawing/2014/main" val="2203235013"/>
                    </a:ext>
                  </a:extLst>
                </a:gridCol>
                <a:gridCol w="684313">
                  <a:extLst>
                    <a:ext uri="{9D8B030D-6E8A-4147-A177-3AD203B41FA5}">
                      <a16:colId xmlns:a16="http://schemas.microsoft.com/office/drawing/2014/main" val="2422547803"/>
                    </a:ext>
                  </a:extLst>
                </a:gridCol>
                <a:gridCol w="684313">
                  <a:extLst>
                    <a:ext uri="{9D8B030D-6E8A-4147-A177-3AD203B41FA5}">
                      <a16:colId xmlns:a16="http://schemas.microsoft.com/office/drawing/2014/main" val="311149991"/>
                    </a:ext>
                  </a:extLst>
                </a:gridCol>
                <a:gridCol w="731578">
                  <a:extLst>
                    <a:ext uri="{9D8B030D-6E8A-4147-A177-3AD203B41FA5}">
                      <a16:colId xmlns:a16="http://schemas.microsoft.com/office/drawing/2014/main" val="4142091724"/>
                    </a:ext>
                  </a:extLst>
                </a:gridCol>
                <a:gridCol w="731578">
                  <a:extLst>
                    <a:ext uri="{9D8B030D-6E8A-4147-A177-3AD203B41FA5}">
                      <a16:colId xmlns:a16="http://schemas.microsoft.com/office/drawing/2014/main" val="3535853012"/>
                    </a:ext>
                  </a:extLst>
                </a:gridCol>
                <a:gridCol w="684313">
                  <a:extLst>
                    <a:ext uri="{9D8B030D-6E8A-4147-A177-3AD203B41FA5}">
                      <a16:colId xmlns:a16="http://schemas.microsoft.com/office/drawing/2014/main" val="2859704366"/>
                    </a:ext>
                  </a:extLst>
                </a:gridCol>
                <a:gridCol w="684313">
                  <a:extLst>
                    <a:ext uri="{9D8B030D-6E8A-4147-A177-3AD203B41FA5}">
                      <a16:colId xmlns:a16="http://schemas.microsoft.com/office/drawing/2014/main" val="3178694165"/>
                    </a:ext>
                  </a:extLst>
                </a:gridCol>
              </a:tblGrid>
              <a:tr h="117379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 dirty="0">
                          <a:effectLst/>
                        </a:rPr>
                        <a:t> </a:t>
                      </a:r>
                      <a:r>
                        <a:rPr lang="en-US" sz="600" b="1" u="none" strike="noStrike" dirty="0" err="1">
                          <a:effectLst/>
                        </a:rPr>
                        <a:t>Age_Group</a:t>
                      </a:r>
                      <a:r>
                        <a:rPr lang="en-US" sz="600" b="1" u="none" strike="noStrike" dirty="0">
                          <a:effectLst/>
                        </a:rPr>
                        <a:t>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1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 dirty="0">
                          <a:effectLst/>
                        </a:rPr>
                        <a:t> CKD Stage 2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3a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 dirty="0">
                          <a:effectLst/>
                        </a:rPr>
                        <a:t> CKD Stage 3b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4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 dirty="0">
                          <a:effectLst/>
                        </a:rPr>
                        <a:t> CKD Stage 5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Total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1_%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2_%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3a_%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3b_%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>
                          <a:effectLst/>
                        </a:rPr>
                        <a:t> CKD Stage 4_%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b="1" u="none" strike="noStrike" dirty="0">
                          <a:effectLst/>
                        </a:rPr>
                        <a:t> CKD Stage 5_%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7141884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 18-29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1,165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467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68.00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66.00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64.00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1,904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61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25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3.89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3.57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3.47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 3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7679468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 30-39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488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703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131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99.00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100.00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125.00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1,646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30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7.96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6.01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6.08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132513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 40-49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476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1,047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277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172.00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178.00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165.00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2,315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21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11.97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7.43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7.69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82481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 50-59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581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1,523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457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315.00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289.00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248.00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3,413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17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13.39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9.23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8.47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70946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 60-69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421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1,529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843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494.00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322.00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203.00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3,812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11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22.11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12.96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8.45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031390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 70-79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105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1,216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752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442.00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219.00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93.00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2,827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43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26.60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15.63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7.75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2710702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 80-89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24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286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165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123.00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48.00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18.00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664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24.85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18.52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7.23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 3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5693298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 90-99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2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17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7.00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4.00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-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38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21.05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18.42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10.53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-  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3714471"/>
                  </a:ext>
                </a:extLst>
              </a:tr>
              <a:tr h="117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 Total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3,262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6,788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2,707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1,720.00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1,226.00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916.00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16,619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20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41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16.29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10.35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7.38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                       6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9" marR="5869" marT="5869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1204405"/>
                  </a:ext>
                </a:extLst>
              </a:tr>
            </a:tbl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151D311B-CF75-0B16-1757-1D17B21B8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2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B6F5C2F-1B78-CDB8-74CF-D435930E4D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78382" y="711518"/>
            <a:ext cx="54656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1 CKD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most common in the 18-29 age group with 1,165 cases, and decreases significantly in older age groups.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2 CKD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a peak in the 60-69 age group, with 1,529 cases, and remains relatively high in adjacent age groups (50-79 years).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3 CKD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(both 3a and 3b) becomes more prevalent in middle to older age groups, particularly from 50-79 years.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Stages 4 and 5 CKD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less frequent across all age groups, but Stage 4 sees an increase in the 60-69 age group and remains higher in older populations.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Implications: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suggests that early-stage CKD is more common in younger adults, while later stages are more prevalent in older populations.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pattern may reflect the progressive nature of CKD and the increasing risk with 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Considerations: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studies could focus on understanding the factors</a:t>
            </a: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contributing to the peak in Stage 2 CKD in the 60-69 age group.</a:t>
            </a:r>
          </a:p>
          <a:p>
            <a:pPr marL="628650" lvl="1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Intervention strategies might be tailored according to the age group and CKD stage distribution to improve patient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chart of a number of stages">
            <a:extLst>
              <a:ext uri="{FF2B5EF4-FFF2-40B4-BE49-F238E27FC236}">
                <a16:creationId xmlns:a16="http://schemas.microsoft.com/office/drawing/2014/main" id="{6FFB3254-F21A-C9B9-BA13-4537AEB12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6" y="1392382"/>
            <a:ext cx="3635218" cy="2625436"/>
          </a:xfrm>
          <a:prstGeom prst="rect">
            <a:avLst/>
          </a:prstGeom>
        </p:spPr>
      </p:pic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6663F9A0-1A88-D058-AB46-4FCAE18F2BB1}"/>
              </a:ext>
            </a:extLst>
          </p:cNvPr>
          <p:cNvSpPr txBox="1">
            <a:spLocks/>
          </p:cNvSpPr>
          <p:nvPr/>
        </p:nvSpPr>
        <p:spPr>
          <a:xfrm>
            <a:off x="416800" y="70800"/>
            <a:ext cx="6472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US" sz="2500" b="1">
                <a:solidFill>
                  <a:schemeClr val="dk1"/>
                </a:solidFill>
              </a:rPr>
              <a:t>Descriptive Statistics</a:t>
            </a:r>
            <a:endParaRPr lang="en-US" sz="2500" b="1" dirty="0">
              <a:solidFill>
                <a:schemeClr val="dk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C0EB677-DF98-A4C9-6590-43F14AC38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82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4" y="582440"/>
            <a:ext cx="4971295" cy="29920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52924"/>
              </p:ext>
            </p:extLst>
          </p:nvPr>
        </p:nvGraphicFramePr>
        <p:xfrm>
          <a:off x="2154381" y="3668192"/>
          <a:ext cx="4971298" cy="120999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ckd_stage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Hypertension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Hypertension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Hypertension_%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Hypertension_%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2,715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547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83.23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16.77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4,610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2,178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6,788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67.91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32.09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3a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1,423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1,284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52.57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47.43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3b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906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814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52.67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47.33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557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1,226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45.43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54.57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347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37.88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62.12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10,558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6,061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63.53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36.47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70104A50-C95D-5A09-C518-F1C3C9FAB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1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4" y="582440"/>
            <a:ext cx="4971295" cy="29920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91128"/>
              </p:ext>
            </p:extLst>
          </p:nvPr>
        </p:nvGraphicFramePr>
        <p:xfrm>
          <a:off x="2154381" y="3668192"/>
          <a:ext cx="4971298" cy="108807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ckd_stage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Diabetes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Diabetes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No Diabetes_%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Diabetes_%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2,571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691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78.82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21.18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4,740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2,048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6,788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69.83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30.17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3a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1,776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931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65.61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34.39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3b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1,114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64.77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35.23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757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469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1,226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61.75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38.25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641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69.98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30.02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11,599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5,020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69.79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30.21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D2BE7381-C22F-10F2-F0F9-4124A50EB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25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5" y="582440"/>
            <a:ext cx="4971293" cy="29920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04126"/>
              </p:ext>
            </p:extLst>
          </p:nvPr>
        </p:nvGraphicFramePr>
        <p:xfrm>
          <a:off x="2154381" y="3668192"/>
          <a:ext cx="4971298" cy="108807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ckd_stage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Male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Female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Male_%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Female_%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856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2,406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26.24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73.76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1,413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5,375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6,788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20.82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79.18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3a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412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2,295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15.22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84.78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3b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1,398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18.72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81.28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275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951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1,226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22.43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77.57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173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743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18.89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81.11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3,451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13,168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20.77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79.23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E08428EB-D52F-51CB-81B2-7BCAA81FC8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90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5" y="582440"/>
            <a:ext cx="4971293" cy="29920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28305"/>
              </p:ext>
            </p:extLst>
          </p:nvPr>
        </p:nvGraphicFramePr>
        <p:xfrm>
          <a:off x="2154381" y="3668192"/>
          <a:ext cx="4971298" cy="108807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ckd_stage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ESRD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ESRD_%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3,199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63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98.07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1.93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6,670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118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6,788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98.26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1.74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3a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2,616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91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96.64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3.36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3b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1,636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95.12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4.88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933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293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1,226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76.10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23.90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386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530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42.14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57.86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15,440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1,179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92.91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7.09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FD4F8A7A-D10C-9116-99F3-C68DEFB8C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8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416800" y="70800"/>
            <a:ext cx="647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Age-Related Distributions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2045555" y="582440"/>
            <a:ext cx="4971292" cy="29920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6EF616-ADF1-983B-8B8E-66B2F916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38593"/>
              </p:ext>
            </p:extLst>
          </p:nvPr>
        </p:nvGraphicFramePr>
        <p:xfrm>
          <a:off x="2154381" y="3668192"/>
          <a:ext cx="4971298" cy="1088072"/>
        </p:xfrm>
        <a:graphic>
          <a:graphicData uri="http://schemas.openxmlformats.org/drawingml/2006/table">
            <a:tbl>
              <a:tblPr>
                <a:tableStyleId>{B6D77246-A2EC-43E5-BF77-76A3824F7355}</a:tableStyleId>
              </a:tblPr>
              <a:tblGrid>
                <a:gridCol w="816794">
                  <a:extLst>
                    <a:ext uri="{9D8B030D-6E8A-4147-A177-3AD203B41FA5}">
                      <a16:colId xmlns:a16="http://schemas.microsoft.com/office/drawing/2014/main" val="3605273511"/>
                    </a:ext>
                  </a:extLst>
                </a:gridCol>
                <a:gridCol w="924462">
                  <a:extLst>
                    <a:ext uri="{9D8B030D-6E8A-4147-A177-3AD203B41FA5}">
                      <a16:colId xmlns:a16="http://schemas.microsoft.com/office/drawing/2014/main" val="936361172"/>
                    </a:ext>
                  </a:extLst>
                </a:gridCol>
                <a:gridCol w="697986">
                  <a:extLst>
                    <a:ext uri="{9D8B030D-6E8A-4147-A177-3AD203B41FA5}">
                      <a16:colId xmlns:a16="http://schemas.microsoft.com/office/drawing/2014/main" val="4104604339"/>
                    </a:ext>
                  </a:extLst>
                </a:gridCol>
                <a:gridCol w="523489">
                  <a:extLst>
                    <a:ext uri="{9D8B030D-6E8A-4147-A177-3AD203B41FA5}">
                      <a16:colId xmlns:a16="http://schemas.microsoft.com/office/drawing/2014/main" val="3218532308"/>
                    </a:ext>
                  </a:extLst>
                </a:gridCol>
                <a:gridCol w="1128660">
                  <a:extLst>
                    <a:ext uri="{9D8B030D-6E8A-4147-A177-3AD203B41FA5}">
                      <a16:colId xmlns:a16="http://schemas.microsoft.com/office/drawing/2014/main" val="865065506"/>
                    </a:ext>
                  </a:extLst>
                </a:gridCol>
                <a:gridCol w="879907">
                  <a:extLst>
                    <a:ext uri="{9D8B030D-6E8A-4147-A177-3AD203B41FA5}">
                      <a16:colId xmlns:a16="http://schemas.microsoft.com/office/drawing/2014/main" val="2586911349"/>
                    </a:ext>
                  </a:extLst>
                </a:gridCol>
              </a:tblGrid>
              <a:tr h="52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ckd_stage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ESRD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No_ESRD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ESRD_%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90530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3,160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96.87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3.13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664096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6,565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6,788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96.71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3.29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110214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3a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2,523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184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93.20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6.80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030639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3b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1,516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204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88.14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11.86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50202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797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429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1,226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65.01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34.99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56671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CKD Stage 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314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916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34.28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65.72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414227"/>
                  </a:ext>
                </a:extLst>
              </a:tr>
              <a:tr h="1366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Total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14,875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1,744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16,619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89.51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10.49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640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848FA07B-FF59-B213-8405-B52CD8F08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0669" y="97926"/>
            <a:ext cx="962454" cy="3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496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3620</Words>
  <Application>Microsoft Office PowerPoint</Application>
  <PresentationFormat>On-screen Show (16:9)</PresentationFormat>
  <Paragraphs>1555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 Narrow</vt:lpstr>
      <vt:lpstr>Arial</vt:lpstr>
      <vt:lpstr>Arial Unicode MS</vt:lpstr>
      <vt:lpstr>Consolas</vt:lpstr>
      <vt:lpstr>Simple Light</vt:lpstr>
      <vt:lpstr>An Independent Validation of the Kidney Failure Risk Equation (KFRE) on a Seoul University Hospital Population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Leonid Shpaner</cp:lastModifiedBy>
  <cp:revision>31</cp:revision>
  <dcterms:modified xsi:type="dcterms:W3CDTF">2024-08-09T03:34:16Z</dcterms:modified>
</cp:coreProperties>
</file>